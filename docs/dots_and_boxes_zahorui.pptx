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4"/>
  </p:normalViewPr>
  <p:slideViewPr>
    <p:cSldViewPr snapToGrid="0">
      <p:cViewPr varScale="1">
        <p:scale>
          <a:sx n="153" d="100"/>
          <a:sy n="153" d="100"/>
        </p:scale>
        <p:origin x="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397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Shape 2"/>
          <p:cNvSpPr/>
          <p:nvPr/>
        </p:nvSpPr>
        <p:spPr>
          <a:xfrm>
            <a:off x="493776" y="950976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5" name="Shape 3"/>
          <p:cNvSpPr/>
          <p:nvPr/>
        </p:nvSpPr>
        <p:spPr>
          <a:xfrm>
            <a:off x="996696" y="950976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6" name="Shape 4"/>
          <p:cNvSpPr/>
          <p:nvPr/>
        </p:nvSpPr>
        <p:spPr>
          <a:xfrm>
            <a:off x="1499616" y="950976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Shape 5"/>
          <p:cNvSpPr/>
          <p:nvPr/>
        </p:nvSpPr>
        <p:spPr>
          <a:xfrm>
            <a:off x="2002536" y="950976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8" name="Shape 6"/>
          <p:cNvSpPr/>
          <p:nvPr/>
        </p:nvSpPr>
        <p:spPr>
          <a:xfrm>
            <a:off x="493776" y="1453896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9" name="Shape 7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0" name="Shape 8"/>
          <p:cNvSpPr/>
          <p:nvPr/>
        </p:nvSpPr>
        <p:spPr>
          <a:xfrm>
            <a:off x="1499616" y="1453896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1" name="Shape 9"/>
          <p:cNvSpPr/>
          <p:nvPr/>
        </p:nvSpPr>
        <p:spPr>
          <a:xfrm>
            <a:off x="2002536" y="1453896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2" name="Shape 10"/>
          <p:cNvSpPr/>
          <p:nvPr/>
        </p:nvSpPr>
        <p:spPr>
          <a:xfrm>
            <a:off x="493776" y="1956816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3" name="Shape 11"/>
          <p:cNvSpPr/>
          <p:nvPr/>
        </p:nvSpPr>
        <p:spPr>
          <a:xfrm>
            <a:off x="996696" y="1956816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4" name="Shape 12"/>
          <p:cNvSpPr/>
          <p:nvPr/>
        </p:nvSpPr>
        <p:spPr>
          <a:xfrm>
            <a:off x="1499616" y="1956816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5" name="Shape 13"/>
          <p:cNvSpPr/>
          <p:nvPr/>
        </p:nvSpPr>
        <p:spPr>
          <a:xfrm>
            <a:off x="2002536" y="1956816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6" name="Shape 14"/>
          <p:cNvSpPr/>
          <p:nvPr/>
        </p:nvSpPr>
        <p:spPr>
          <a:xfrm>
            <a:off x="493776" y="2459736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7" name="Shape 15"/>
          <p:cNvSpPr/>
          <p:nvPr/>
        </p:nvSpPr>
        <p:spPr>
          <a:xfrm>
            <a:off x="996696" y="2459736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8" name="Shape 16"/>
          <p:cNvSpPr/>
          <p:nvPr/>
        </p:nvSpPr>
        <p:spPr>
          <a:xfrm>
            <a:off x="1499616" y="2459736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9" name="Shape 17"/>
          <p:cNvSpPr/>
          <p:nvPr/>
        </p:nvSpPr>
        <p:spPr>
          <a:xfrm>
            <a:off x="2002536" y="2459736"/>
            <a:ext cx="109728" cy="109728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0" name="Shape 18"/>
          <p:cNvSpPr/>
          <p:nvPr/>
        </p:nvSpPr>
        <p:spPr>
          <a:xfrm>
            <a:off x="548640" y="1005840"/>
            <a:ext cx="502920" cy="0"/>
          </a:xfrm>
          <a:prstGeom prst="line">
            <a:avLst/>
          </a:prstGeom>
          <a:noFill/>
          <a:ln w="254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1" name="Shape 19"/>
          <p:cNvSpPr/>
          <p:nvPr/>
        </p:nvSpPr>
        <p:spPr>
          <a:xfrm>
            <a:off x="548640" y="1508760"/>
            <a:ext cx="502920" cy="0"/>
          </a:xfrm>
          <a:prstGeom prst="line">
            <a:avLst/>
          </a:prstGeom>
          <a:noFill/>
          <a:ln w="254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2" name="Shape 20"/>
          <p:cNvSpPr/>
          <p:nvPr/>
        </p:nvSpPr>
        <p:spPr>
          <a:xfrm>
            <a:off x="548640" y="1005840"/>
            <a:ext cx="0" cy="502920"/>
          </a:xfrm>
          <a:prstGeom prst="line">
            <a:avLst/>
          </a:prstGeom>
          <a:noFill/>
          <a:ln w="254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3" name="Shape 21"/>
          <p:cNvSpPr/>
          <p:nvPr/>
        </p:nvSpPr>
        <p:spPr>
          <a:xfrm>
            <a:off x="1051560" y="1005840"/>
            <a:ext cx="0" cy="502920"/>
          </a:xfrm>
          <a:prstGeom prst="line">
            <a:avLst/>
          </a:prstGeom>
          <a:noFill/>
          <a:ln w="254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4" name="Shape 22"/>
          <p:cNvSpPr/>
          <p:nvPr/>
        </p:nvSpPr>
        <p:spPr>
          <a:xfrm>
            <a:off x="1554480" y="1508760"/>
            <a:ext cx="502920" cy="0"/>
          </a:xfrm>
          <a:prstGeom prst="line">
            <a:avLst/>
          </a:prstGeom>
          <a:noFill/>
          <a:ln w="254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5" name="Shape 23"/>
          <p:cNvSpPr/>
          <p:nvPr/>
        </p:nvSpPr>
        <p:spPr>
          <a:xfrm>
            <a:off x="2057400" y="1005840"/>
            <a:ext cx="0" cy="502920"/>
          </a:xfrm>
          <a:prstGeom prst="line">
            <a:avLst/>
          </a:prstGeom>
          <a:noFill/>
          <a:ln w="254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6" name="Shape 24"/>
          <p:cNvSpPr/>
          <p:nvPr/>
        </p:nvSpPr>
        <p:spPr>
          <a:xfrm>
            <a:off x="1554480" y="1005840"/>
            <a:ext cx="0" cy="502920"/>
          </a:xfrm>
          <a:prstGeom prst="line">
            <a:avLst/>
          </a:prstGeom>
          <a:noFill/>
          <a:ln w="254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7" name="Shape 25"/>
          <p:cNvSpPr/>
          <p:nvPr/>
        </p:nvSpPr>
        <p:spPr>
          <a:xfrm>
            <a:off x="1051560" y="1005840"/>
            <a:ext cx="502920" cy="0"/>
          </a:xfrm>
          <a:prstGeom prst="line">
            <a:avLst/>
          </a:prstGeom>
          <a:noFill/>
          <a:ln w="254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8" name="Shape 26"/>
          <p:cNvSpPr/>
          <p:nvPr/>
        </p:nvSpPr>
        <p:spPr>
          <a:xfrm>
            <a:off x="585216" y="1042416"/>
            <a:ext cx="429768" cy="429768"/>
          </a:xfrm>
          <a:prstGeom prst="rect">
            <a:avLst/>
          </a:prstGeom>
          <a:solidFill>
            <a:srgbClr val="FF4D4D">
              <a:alpha val="18000"/>
            </a:srgbClr>
          </a:solidFill>
          <a:ln w="12700">
            <a:solidFill>
              <a:srgbClr val="FF4D4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9" name="Text 27"/>
          <p:cNvSpPr/>
          <p:nvPr/>
        </p:nvSpPr>
        <p:spPr>
          <a:xfrm>
            <a:off x="2011680" y="12801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DOTS &amp; BOXES</a:t>
            </a:r>
            <a:endParaRPr lang="en-US" sz="5200"/>
          </a:p>
        </p:txBody>
      </p:sp>
      <p:sp>
        <p:nvSpPr>
          <p:cNvPr id="30" name="Text 28"/>
          <p:cNvSpPr/>
          <p:nvPr/>
        </p:nvSpPr>
        <p:spPr>
          <a:xfrm>
            <a:off x="2011680" y="2423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на Haskell та Prolog</a:t>
            </a:r>
            <a:endParaRPr lang="en-US" sz="1800"/>
          </a:p>
        </p:txBody>
      </p:sp>
      <p:sp>
        <p:nvSpPr>
          <p:cNvPr id="31" name="Shape 29"/>
          <p:cNvSpPr/>
          <p:nvPr/>
        </p:nvSpPr>
        <p:spPr>
          <a:xfrm>
            <a:off x="2011680" y="3108960"/>
            <a:ext cx="1645920" cy="384048"/>
          </a:xfrm>
          <a:prstGeom prst="rect">
            <a:avLst/>
          </a:prstGeom>
          <a:solidFill>
            <a:srgbClr val="FF4D4D">
              <a:alpha val="20000"/>
            </a:srgbClr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2" name="Text 30"/>
          <p:cNvSpPr/>
          <p:nvPr/>
        </p:nvSpPr>
        <p:spPr>
          <a:xfrm>
            <a:off x="2011680" y="3108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🟠  Haskell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3840480" y="3108960"/>
            <a:ext cx="1645920" cy="384048"/>
          </a:xfrm>
          <a:prstGeom prst="rect">
            <a:avLst/>
          </a:prstGeom>
          <a:solidFill>
            <a:srgbClr val="4D9FFF">
              <a:alpha val="20000"/>
            </a:srgbClr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4" name="Text 32"/>
          <p:cNvSpPr/>
          <p:nvPr/>
        </p:nvSpPr>
        <p:spPr>
          <a:xfrm>
            <a:off x="3840480" y="3108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4D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🔵  Prolog</a:t>
            </a:r>
            <a:endParaRPr lang="en-US" sz="1200"/>
          </a:p>
        </p:txBody>
      </p:sp>
      <p:pic>
        <p:nvPicPr>
          <p:cNvPr id="57" name="Звук 56">
            <a:extLst>
              <a:ext uri="{FF2B5EF4-FFF2-40B4-BE49-F238E27FC236}">
                <a16:creationId xmlns:a16="http://schemas.microsoft.com/office/drawing/2014/main" id="{EE66359A-FD96-7037-8639-3CF267CACF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80"/>
    </mc:Choice>
    <mc:Fallback xmlns="">
      <p:transition spd="slow" advTm="130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ЩО ТАКЕ ГРА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Dots &amp; Boxes</a:t>
            </a:r>
            <a:endParaRPr lang="en-US" sz="360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75488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UA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Dots &amp; Boxes — класична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олівцева гра для двох гравців.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685800" y="2286000"/>
            <a:ext cx="429768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9" name="Text 7"/>
          <p:cNvSpPr/>
          <p:nvPr/>
        </p:nvSpPr>
        <p:spPr>
          <a:xfrm>
            <a:off x="749808" y="22860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000000"/>
                </a:solidFill>
              </a:rPr>
              <a:t>📅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1170432" y="22860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Винайдена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2514600" y="2286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Édouard Lucas, 1889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685800" y="2761488"/>
            <a:ext cx="429768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3" name="Text 11"/>
          <p:cNvSpPr/>
          <p:nvPr/>
        </p:nvSpPr>
        <p:spPr>
          <a:xfrm>
            <a:off x="749808" y="27614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000000"/>
                </a:solidFill>
              </a:rPr>
              <a:t>👥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1170432" y="27614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Гравці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2514600" y="27614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(або більше)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685800" y="3236976"/>
            <a:ext cx="429768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7" name="Text 15"/>
          <p:cNvSpPr/>
          <p:nvPr/>
        </p:nvSpPr>
        <p:spPr>
          <a:xfrm>
            <a:off x="749808" y="323697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000000"/>
                </a:solidFill>
              </a:rPr>
              <a:t>🎯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1170432" y="32369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Мета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2514600" y="32369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Захопити більше квадратів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685800" y="3712464"/>
            <a:ext cx="429768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1" name="Text 19"/>
          <p:cNvSpPr/>
          <p:nvPr/>
        </p:nvSpPr>
        <p:spPr>
          <a:xfrm>
            <a:off x="749808" y="371246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000000"/>
                </a:solidFill>
              </a:rPr>
              <a:t>📐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1170432" y="371246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Поле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2514600" y="37124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N×N сітка з крапок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1170432" y="41879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2514600" y="41879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5577840" y="1417320"/>
            <a:ext cx="310896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UA"/>
          </a:p>
        </p:txBody>
      </p:sp>
      <p:sp>
        <p:nvSpPr>
          <p:cNvPr id="29" name="Text 27"/>
          <p:cNvSpPr/>
          <p:nvPr/>
        </p:nvSpPr>
        <p:spPr>
          <a:xfrm>
            <a:off x="557784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Приклад поля 3×3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5847588" y="1915668"/>
            <a:ext cx="100584" cy="10058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1" name="Shape 29"/>
          <p:cNvSpPr/>
          <p:nvPr/>
        </p:nvSpPr>
        <p:spPr>
          <a:xfrm>
            <a:off x="6505956" y="1915668"/>
            <a:ext cx="100584" cy="10058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2" name="Shape 30"/>
          <p:cNvSpPr/>
          <p:nvPr/>
        </p:nvSpPr>
        <p:spPr>
          <a:xfrm>
            <a:off x="7164324" y="1915668"/>
            <a:ext cx="100584" cy="10058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3" name="Shape 31"/>
          <p:cNvSpPr/>
          <p:nvPr/>
        </p:nvSpPr>
        <p:spPr>
          <a:xfrm>
            <a:off x="7822692" y="1915668"/>
            <a:ext cx="100584" cy="10058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4" name="Shape 32"/>
          <p:cNvSpPr/>
          <p:nvPr/>
        </p:nvSpPr>
        <p:spPr>
          <a:xfrm>
            <a:off x="5847588" y="2574036"/>
            <a:ext cx="100584" cy="10058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5" name="Shape 33"/>
          <p:cNvSpPr/>
          <p:nvPr/>
        </p:nvSpPr>
        <p:spPr>
          <a:xfrm>
            <a:off x="6505956" y="2574036"/>
            <a:ext cx="100584" cy="10058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6" name="Shape 34"/>
          <p:cNvSpPr/>
          <p:nvPr/>
        </p:nvSpPr>
        <p:spPr>
          <a:xfrm>
            <a:off x="7164324" y="2574036"/>
            <a:ext cx="100584" cy="10058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7" name="Shape 35"/>
          <p:cNvSpPr/>
          <p:nvPr/>
        </p:nvSpPr>
        <p:spPr>
          <a:xfrm>
            <a:off x="7822692" y="2574036"/>
            <a:ext cx="100584" cy="10058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8" name="Shape 36"/>
          <p:cNvSpPr/>
          <p:nvPr/>
        </p:nvSpPr>
        <p:spPr>
          <a:xfrm>
            <a:off x="5847588" y="3232404"/>
            <a:ext cx="100584" cy="10058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9" name="Shape 37"/>
          <p:cNvSpPr/>
          <p:nvPr/>
        </p:nvSpPr>
        <p:spPr>
          <a:xfrm>
            <a:off x="6505956" y="3232404"/>
            <a:ext cx="100584" cy="10058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0" name="Shape 38"/>
          <p:cNvSpPr/>
          <p:nvPr/>
        </p:nvSpPr>
        <p:spPr>
          <a:xfrm>
            <a:off x="7164324" y="3232404"/>
            <a:ext cx="100584" cy="10058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1" name="Shape 39"/>
          <p:cNvSpPr/>
          <p:nvPr/>
        </p:nvSpPr>
        <p:spPr>
          <a:xfrm>
            <a:off x="7822692" y="3232404"/>
            <a:ext cx="100584" cy="10058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2" name="Shape 40"/>
          <p:cNvSpPr/>
          <p:nvPr/>
        </p:nvSpPr>
        <p:spPr>
          <a:xfrm>
            <a:off x="5847588" y="3890772"/>
            <a:ext cx="100584" cy="10058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3" name="Shape 41"/>
          <p:cNvSpPr/>
          <p:nvPr/>
        </p:nvSpPr>
        <p:spPr>
          <a:xfrm>
            <a:off x="6505956" y="3890772"/>
            <a:ext cx="100584" cy="10058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4" name="Shape 42"/>
          <p:cNvSpPr/>
          <p:nvPr/>
        </p:nvSpPr>
        <p:spPr>
          <a:xfrm>
            <a:off x="7164324" y="3890772"/>
            <a:ext cx="100584" cy="10058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5" name="Shape 43"/>
          <p:cNvSpPr/>
          <p:nvPr/>
        </p:nvSpPr>
        <p:spPr>
          <a:xfrm>
            <a:off x="7822692" y="3890772"/>
            <a:ext cx="100584" cy="100584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6" name="Shape 44"/>
          <p:cNvSpPr/>
          <p:nvPr/>
        </p:nvSpPr>
        <p:spPr>
          <a:xfrm>
            <a:off x="5897880" y="1965960"/>
            <a:ext cx="658368" cy="0"/>
          </a:xfrm>
          <a:prstGeom prst="line">
            <a:avLst/>
          </a:prstGeom>
          <a:noFill/>
          <a:ln w="3175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7" name="Shape 45"/>
          <p:cNvSpPr/>
          <p:nvPr/>
        </p:nvSpPr>
        <p:spPr>
          <a:xfrm>
            <a:off x="6556248" y="1965960"/>
            <a:ext cx="658368" cy="0"/>
          </a:xfrm>
          <a:prstGeom prst="line">
            <a:avLst/>
          </a:prstGeom>
          <a:noFill/>
          <a:ln w="3175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8" name="Shape 46"/>
          <p:cNvSpPr/>
          <p:nvPr/>
        </p:nvSpPr>
        <p:spPr>
          <a:xfrm>
            <a:off x="5897880" y="2624328"/>
            <a:ext cx="658368" cy="0"/>
          </a:xfrm>
          <a:prstGeom prst="line">
            <a:avLst/>
          </a:prstGeom>
          <a:noFill/>
          <a:ln w="3175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9" name="Shape 47"/>
          <p:cNvSpPr/>
          <p:nvPr/>
        </p:nvSpPr>
        <p:spPr>
          <a:xfrm>
            <a:off x="6556248" y="2624328"/>
            <a:ext cx="658368" cy="0"/>
          </a:xfrm>
          <a:prstGeom prst="line">
            <a:avLst/>
          </a:prstGeom>
          <a:noFill/>
          <a:ln w="3175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50" name="Shape 48"/>
          <p:cNvSpPr/>
          <p:nvPr/>
        </p:nvSpPr>
        <p:spPr>
          <a:xfrm>
            <a:off x="5897880" y="3282696"/>
            <a:ext cx="658368" cy="0"/>
          </a:xfrm>
          <a:prstGeom prst="line">
            <a:avLst/>
          </a:prstGeom>
          <a:noFill/>
          <a:ln w="3175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51" name="Shape 49"/>
          <p:cNvSpPr/>
          <p:nvPr/>
        </p:nvSpPr>
        <p:spPr>
          <a:xfrm>
            <a:off x="7214616" y="3282696"/>
            <a:ext cx="658368" cy="0"/>
          </a:xfrm>
          <a:prstGeom prst="line">
            <a:avLst/>
          </a:prstGeom>
          <a:noFill/>
          <a:ln w="3175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52" name="Shape 50"/>
          <p:cNvSpPr/>
          <p:nvPr/>
        </p:nvSpPr>
        <p:spPr>
          <a:xfrm>
            <a:off x="5897880" y="3941064"/>
            <a:ext cx="658368" cy="0"/>
          </a:xfrm>
          <a:prstGeom prst="line">
            <a:avLst/>
          </a:prstGeom>
          <a:noFill/>
          <a:ln w="3175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53" name="Shape 51"/>
          <p:cNvSpPr/>
          <p:nvPr/>
        </p:nvSpPr>
        <p:spPr>
          <a:xfrm>
            <a:off x="6556248" y="3941064"/>
            <a:ext cx="658368" cy="0"/>
          </a:xfrm>
          <a:prstGeom prst="line">
            <a:avLst/>
          </a:prstGeom>
          <a:noFill/>
          <a:ln w="3175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54" name="Shape 52"/>
          <p:cNvSpPr/>
          <p:nvPr/>
        </p:nvSpPr>
        <p:spPr>
          <a:xfrm>
            <a:off x="7214616" y="3941064"/>
            <a:ext cx="658368" cy="0"/>
          </a:xfrm>
          <a:prstGeom prst="line">
            <a:avLst/>
          </a:prstGeom>
          <a:noFill/>
          <a:ln w="3175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55" name="Shape 53"/>
          <p:cNvSpPr/>
          <p:nvPr/>
        </p:nvSpPr>
        <p:spPr>
          <a:xfrm>
            <a:off x="5897880" y="1965960"/>
            <a:ext cx="0" cy="658368"/>
          </a:xfrm>
          <a:prstGeom prst="line">
            <a:avLst/>
          </a:prstGeom>
          <a:noFill/>
          <a:ln w="3175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56" name="Shape 54"/>
          <p:cNvSpPr/>
          <p:nvPr/>
        </p:nvSpPr>
        <p:spPr>
          <a:xfrm>
            <a:off x="5897880" y="2624328"/>
            <a:ext cx="0" cy="658368"/>
          </a:xfrm>
          <a:prstGeom prst="line">
            <a:avLst/>
          </a:prstGeom>
          <a:noFill/>
          <a:ln w="3175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57" name="Shape 55"/>
          <p:cNvSpPr/>
          <p:nvPr/>
        </p:nvSpPr>
        <p:spPr>
          <a:xfrm>
            <a:off x="6556248" y="1965960"/>
            <a:ext cx="0" cy="658368"/>
          </a:xfrm>
          <a:prstGeom prst="line">
            <a:avLst/>
          </a:prstGeom>
          <a:noFill/>
          <a:ln w="3175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58" name="Shape 56"/>
          <p:cNvSpPr/>
          <p:nvPr/>
        </p:nvSpPr>
        <p:spPr>
          <a:xfrm>
            <a:off x="6556248" y="2624328"/>
            <a:ext cx="0" cy="658368"/>
          </a:xfrm>
          <a:prstGeom prst="line">
            <a:avLst/>
          </a:prstGeom>
          <a:noFill/>
          <a:ln w="3175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59" name="Shape 57"/>
          <p:cNvSpPr/>
          <p:nvPr/>
        </p:nvSpPr>
        <p:spPr>
          <a:xfrm>
            <a:off x="7214616" y="2624328"/>
            <a:ext cx="0" cy="658368"/>
          </a:xfrm>
          <a:prstGeom prst="line">
            <a:avLst/>
          </a:prstGeom>
          <a:noFill/>
          <a:ln w="3175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60" name="Shape 58"/>
          <p:cNvSpPr/>
          <p:nvPr/>
        </p:nvSpPr>
        <p:spPr>
          <a:xfrm>
            <a:off x="7872984" y="1965960"/>
            <a:ext cx="0" cy="658368"/>
          </a:xfrm>
          <a:prstGeom prst="line">
            <a:avLst/>
          </a:prstGeom>
          <a:noFill/>
          <a:ln w="3175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61" name="Shape 59"/>
          <p:cNvSpPr/>
          <p:nvPr/>
        </p:nvSpPr>
        <p:spPr>
          <a:xfrm>
            <a:off x="7872984" y="2624328"/>
            <a:ext cx="0" cy="658368"/>
          </a:xfrm>
          <a:prstGeom prst="line">
            <a:avLst/>
          </a:prstGeom>
          <a:noFill/>
          <a:ln w="3175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62" name="Shape 60"/>
          <p:cNvSpPr/>
          <p:nvPr/>
        </p:nvSpPr>
        <p:spPr>
          <a:xfrm>
            <a:off x="5897880" y="3282696"/>
            <a:ext cx="0" cy="658368"/>
          </a:xfrm>
          <a:prstGeom prst="line">
            <a:avLst/>
          </a:prstGeom>
          <a:noFill/>
          <a:ln w="3175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63" name="Shape 61"/>
          <p:cNvSpPr/>
          <p:nvPr/>
        </p:nvSpPr>
        <p:spPr>
          <a:xfrm>
            <a:off x="6556248" y="3282696"/>
            <a:ext cx="0" cy="658368"/>
          </a:xfrm>
          <a:prstGeom prst="line">
            <a:avLst/>
          </a:prstGeom>
          <a:noFill/>
          <a:ln w="3175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64" name="Shape 62"/>
          <p:cNvSpPr/>
          <p:nvPr/>
        </p:nvSpPr>
        <p:spPr>
          <a:xfrm>
            <a:off x="7872984" y="3282696"/>
            <a:ext cx="0" cy="658368"/>
          </a:xfrm>
          <a:prstGeom prst="line">
            <a:avLst/>
          </a:prstGeom>
          <a:noFill/>
          <a:ln w="3175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65" name="Shape 63"/>
          <p:cNvSpPr/>
          <p:nvPr/>
        </p:nvSpPr>
        <p:spPr>
          <a:xfrm>
            <a:off x="5934456" y="2002536"/>
            <a:ext cx="585216" cy="585216"/>
          </a:xfrm>
          <a:prstGeom prst="rect">
            <a:avLst/>
          </a:prstGeom>
          <a:solidFill>
            <a:srgbClr val="FF4D4D">
              <a:alpha val="22000"/>
            </a:srgbClr>
          </a:solidFill>
          <a:ln w="12700">
            <a:solidFill>
              <a:srgbClr val="FF4D4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66" name="Shape 64"/>
          <p:cNvSpPr/>
          <p:nvPr/>
        </p:nvSpPr>
        <p:spPr>
          <a:xfrm>
            <a:off x="6592824" y="2660904"/>
            <a:ext cx="585216" cy="585216"/>
          </a:xfrm>
          <a:prstGeom prst="rect">
            <a:avLst/>
          </a:prstGeom>
          <a:solidFill>
            <a:srgbClr val="4D9FFF">
              <a:alpha val="22000"/>
            </a:srgbClr>
          </a:solidFill>
          <a:ln w="12700">
            <a:solidFill>
              <a:srgbClr val="4D9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pic>
        <p:nvPicPr>
          <p:cNvPr id="70" name="Звук 69">
            <a:extLst>
              <a:ext uri="{FF2B5EF4-FFF2-40B4-BE49-F238E27FC236}">
                <a16:creationId xmlns:a16="http://schemas.microsoft.com/office/drawing/2014/main" id="{24627C58-9C43-91DB-82A9-17180763FB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466"/>
    </mc:Choice>
    <mc:Fallback xmlns="">
      <p:transition spd="slow" advTm="274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ЯК ГРАТИ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Правила гри</a:t>
            </a:r>
            <a:endParaRPr lang="en-US" sz="360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02336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UA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54864" cy="155448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8" name="Text 6"/>
          <p:cNvSpPr/>
          <p:nvPr/>
        </p:nvSpPr>
        <p:spPr>
          <a:xfrm>
            <a:off x="594360" y="16184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Поле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Гравці починають з N×N сітки крапок. Стандартне поле — 3×3 (16 крапок, 9 квадратів).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402336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UA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54864" cy="1554480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3" name="Text 11"/>
          <p:cNvSpPr/>
          <p:nvPr/>
        </p:nvSpPr>
        <p:spPr>
          <a:xfrm>
            <a:off x="594360" y="3355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4D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Хід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594360" y="40690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хід — з'єднати дві сусідні крапки горизонтальною або вертикальною лінією.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800600" y="1508760"/>
            <a:ext cx="402336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UA"/>
          </a:p>
        </p:txBody>
      </p:sp>
      <p:sp>
        <p:nvSpPr>
          <p:cNvPr id="17" name="Shape 15"/>
          <p:cNvSpPr/>
          <p:nvPr/>
        </p:nvSpPr>
        <p:spPr>
          <a:xfrm>
            <a:off x="4800600" y="1508760"/>
            <a:ext cx="54864" cy="155448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8" name="Text 16"/>
          <p:cNvSpPr/>
          <p:nvPr/>
        </p:nvSpPr>
        <p:spPr>
          <a:xfrm>
            <a:off x="4937760" y="161848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493776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Захоплення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4937760" y="23317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лінія замикає квадрат — гравець захоплює його і отримує додатковий хід.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4800600" y="3246120"/>
            <a:ext cx="402336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UA"/>
          </a:p>
        </p:txBody>
      </p:sp>
      <p:sp>
        <p:nvSpPr>
          <p:cNvPr id="22" name="Shape 20"/>
          <p:cNvSpPr/>
          <p:nvPr/>
        </p:nvSpPr>
        <p:spPr>
          <a:xfrm>
            <a:off x="4800600" y="3246120"/>
            <a:ext cx="54864" cy="1554480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3" name="Text 21"/>
          <p:cNvSpPr/>
          <p:nvPr/>
        </p:nvSpPr>
        <p:spPr>
          <a:xfrm>
            <a:off x="4937760" y="3355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4D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/>
          </a:p>
        </p:txBody>
      </p:sp>
      <p:sp>
        <p:nvSpPr>
          <p:cNvPr id="24" name="Text 22"/>
          <p:cNvSpPr/>
          <p:nvPr/>
        </p:nvSpPr>
        <p:spPr>
          <a:xfrm>
            <a:off x="493776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Перемога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4937760" y="40690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 закінчується коли всі квадрати захоплені. Перемагає той, хто захопив більше.</a:t>
            </a:r>
            <a:endParaRPr lang="en-US" sz="1100"/>
          </a:p>
        </p:txBody>
      </p:sp>
      <p:pic>
        <p:nvPicPr>
          <p:cNvPr id="29" name="Звук 28">
            <a:extLst>
              <a:ext uri="{FF2B5EF4-FFF2-40B4-BE49-F238E27FC236}">
                <a16:creationId xmlns:a16="http://schemas.microsoft.com/office/drawing/2014/main" id="{BADD1EDE-536D-2F7B-3058-7AB0905934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23"/>
    </mc:Choice>
    <mc:Fallback xmlns="">
      <p:transition spd="slow" advTm="251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РЕАЛІЗАЦІЯ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🟠  Haskell</a:t>
            </a:r>
            <a:endParaRPr lang="en-US" sz="340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3429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UA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42900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Ключові особливості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594360" y="1920240"/>
            <a:ext cx="36118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0" name="Text 8"/>
          <p:cNvSpPr/>
          <p:nvPr/>
        </p:nvSpPr>
        <p:spPr>
          <a:xfrm>
            <a:off x="658368" y="19385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Незмінний стан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658368" y="21396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GameState — чистий запис, кожен хід повертає новий стан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594360" y="2450592"/>
            <a:ext cx="36118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3" name="Text 11"/>
          <p:cNvSpPr/>
          <p:nvPr/>
        </p:nvSpPr>
        <p:spPr>
          <a:xfrm>
            <a:off x="658368" y="24688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Алгебраїчні типи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658368" y="2670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Dir = H | V  та  data Player = P1 | P2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594360" y="2980944"/>
            <a:ext cx="36118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6" name="Text 14"/>
          <p:cNvSpPr/>
          <p:nvPr/>
        </p:nvSpPr>
        <p:spPr>
          <a:xfrm>
            <a:off x="658368" y="2999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Патерн-матчинг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658368" y="32004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Логіка ходу через makeMove :: GameState → Line → Either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594360" y="3511296"/>
            <a:ext cx="36118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9" name="Text 17"/>
          <p:cNvSpPr/>
          <p:nvPr/>
        </p:nvSpPr>
        <p:spPr>
          <a:xfrm>
            <a:off x="658368" y="35295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Функції вищого порядку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658368" y="3730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foldr для оновлення власників боксів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594360" y="4041648"/>
            <a:ext cx="36118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2" name="Text 20"/>
          <p:cNvSpPr/>
          <p:nvPr/>
        </p:nvSpPr>
        <p:spPr>
          <a:xfrm>
            <a:off x="658368" y="40599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Scotty веб-сервер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658368" y="42611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Легкий HTTP сервер, CORS middleware через WAI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4663440" y="1371600"/>
            <a:ext cx="4023360" cy="3429000"/>
          </a:xfrm>
          <a:prstGeom prst="rect">
            <a:avLst/>
          </a:prstGeom>
          <a:solidFill>
            <a:srgbClr val="0F0F0F"/>
          </a:solidFill>
          <a:ln w="12700">
            <a:solidFill>
              <a:srgbClr val="2A2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UA"/>
          </a:p>
        </p:txBody>
      </p:sp>
      <p:sp>
        <p:nvSpPr>
          <p:cNvPr id="25" name="Text 23"/>
          <p:cNvSpPr/>
          <p:nvPr/>
        </p:nvSpPr>
        <p:spPr>
          <a:xfrm>
            <a:off x="475488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makeMove :: GameState → Line → Either String GameState</a:t>
            </a:r>
            <a:endParaRPr lang="en-US" sz="750"/>
          </a:p>
        </p:txBody>
      </p:sp>
      <p:sp>
        <p:nvSpPr>
          <p:cNvPr id="26" name="Text 24"/>
          <p:cNvSpPr/>
          <p:nvPr/>
        </p:nvSpPr>
        <p:spPr>
          <a:xfrm>
            <a:off x="4754880" y="18288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makeMove gs _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4754880" y="20208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F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gsOver gs  = Left "Гра завершена"</a:t>
            </a:r>
            <a:endParaRPr lang="en-US" sz="800"/>
          </a:p>
        </p:txBody>
      </p:sp>
      <p:sp>
        <p:nvSpPr>
          <p:cNvPr id="28" name="Text 26"/>
          <p:cNvSpPr/>
          <p:nvPr/>
        </p:nvSpPr>
        <p:spPr>
          <a:xfrm>
            <a:off x="4754880" y="22128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not (isValid gs ln)</a:t>
            </a:r>
            <a:endParaRPr lang="en-US" sz="800"/>
          </a:p>
        </p:txBody>
      </p:sp>
      <p:sp>
        <p:nvSpPr>
          <p:cNvPr id="29" name="Text 27"/>
          <p:cNvSpPr/>
          <p:nvPr/>
        </p:nvSpPr>
        <p:spPr>
          <a:xfrm>
            <a:off x="4754880" y="2404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F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= Left "Невалідний хід"</a:t>
            </a:r>
            <a:endParaRPr lang="en-US" sz="800"/>
          </a:p>
        </p:txBody>
      </p:sp>
      <p:sp>
        <p:nvSpPr>
          <p:cNvPr id="30" name="Text 28"/>
          <p:cNvSpPr/>
          <p:nvPr/>
        </p:nvSpPr>
        <p:spPr>
          <a:xfrm>
            <a:off x="4754880" y="2596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makeMove gs ln =</a:t>
            </a:r>
            <a:endParaRPr lang="en-US" sz="800"/>
          </a:p>
        </p:txBody>
      </p:sp>
      <p:sp>
        <p:nvSpPr>
          <p:cNvPr id="31" name="Text 29"/>
          <p:cNvSpPr/>
          <p:nvPr/>
        </p:nvSpPr>
        <p:spPr>
          <a:xfrm>
            <a:off x="4754880" y="2788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p   = gsCurrent gs</a:t>
            </a:r>
            <a:endParaRPr lang="en-US" sz="800"/>
          </a:p>
        </p:txBody>
      </p:sp>
      <p:sp>
        <p:nvSpPr>
          <p:cNvPr id="32" name="Text 30"/>
          <p:cNvSpPr/>
          <p:nvPr/>
        </p:nvSpPr>
        <p:spPr>
          <a:xfrm>
            <a:off x="4754880" y="29809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gs1 = gs { gsLines =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4754880" y="3172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Set.insert ln (gsLines gs) }</a:t>
            </a:r>
            <a:endParaRPr lang="en-US" sz="800"/>
          </a:p>
        </p:txBody>
      </p:sp>
      <p:sp>
        <p:nvSpPr>
          <p:cNvPr id="34" name="Text 32"/>
          <p:cNvSpPr/>
          <p:nvPr/>
        </p:nvSpPr>
        <p:spPr>
          <a:xfrm>
            <a:off x="4754880" y="3364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nb  = newBoxes gs1 ln</a:t>
            </a:r>
            <a:endParaRPr lang="en-US" sz="800"/>
          </a:p>
        </p:txBody>
      </p:sp>
      <p:sp>
        <p:nvSpPr>
          <p:cNvPr id="35" name="Text 33"/>
          <p:cNvSpPr/>
          <p:nvPr/>
        </p:nvSpPr>
        <p:spPr>
          <a:xfrm>
            <a:off x="4754880" y="35570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cap = length nb</a:t>
            </a:r>
            <a:endParaRPr lang="en-US" sz="800"/>
          </a:p>
        </p:txBody>
      </p:sp>
      <p:sp>
        <p:nvSpPr>
          <p:cNvPr id="36" name="Text 34"/>
          <p:cNvSpPr/>
          <p:nvPr/>
        </p:nvSpPr>
        <p:spPr>
          <a:xfrm>
            <a:off x="4754880" y="3749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gs2 = foldr (\rc s -&gt;</a:t>
            </a:r>
            <a:endParaRPr lang="en-US" sz="800"/>
          </a:p>
        </p:txBody>
      </p:sp>
      <p:sp>
        <p:nvSpPr>
          <p:cNvPr id="37" name="Text 35"/>
          <p:cNvSpPr/>
          <p:nvPr/>
        </p:nvSpPr>
        <p:spPr>
          <a:xfrm>
            <a:off x="4754880" y="39410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 { gsOwners =</a:t>
            </a:r>
            <a:endParaRPr lang="en-US" sz="800"/>
          </a:p>
        </p:txBody>
      </p:sp>
      <p:sp>
        <p:nvSpPr>
          <p:cNvPr id="38" name="Text 36"/>
          <p:cNvSpPr/>
          <p:nvPr/>
        </p:nvSpPr>
        <p:spPr>
          <a:xfrm>
            <a:off x="4754880" y="4133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Map.insert rc p (gsOwners s) })</a:t>
            </a:r>
            <a:endParaRPr lang="en-US" sz="800"/>
          </a:p>
        </p:txBody>
      </p:sp>
      <p:sp>
        <p:nvSpPr>
          <p:cNvPr id="39" name="Text 37"/>
          <p:cNvSpPr/>
          <p:nvPr/>
        </p:nvSpPr>
        <p:spPr>
          <a:xfrm>
            <a:off x="4754880" y="43251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gs1 nb</a:t>
            </a:r>
            <a:endParaRPr lang="en-US" sz="800"/>
          </a:p>
        </p:txBody>
      </p:sp>
      <p:sp>
        <p:nvSpPr>
          <p:cNvPr id="40" name="Text 38"/>
          <p:cNvSpPr/>
          <p:nvPr/>
        </p:nvSpPr>
        <p:spPr>
          <a:xfrm>
            <a:off x="4754880" y="45171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 Right gs2 { gsOver = over }</a:t>
            </a:r>
            <a:endParaRPr lang="en-US" sz="800"/>
          </a:p>
        </p:txBody>
      </p:sp>
      <p:pic>
        <p:nvPicPr>
          <p:cNvPr id="76" name="Звук 75">
            <a:extLst>
              <a:ext uri="{FF2B5EF4-FFF2-40B4-BE49-F238E27FC236}">
                <a16:creationId xmlns:a16="http://schemas.microsoft.com/office/drawing/2014/main" id="{AC51676C-D761-3E30-295F-CCFEBC37BF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81"/>
    </mc:Choice>
    <mc:Fallback xmlns="">
      <p:transition spd="slow" advTm="241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РЕАЛІЗАЦІЯ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4D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🔵  SWI-Prolog</a:t>
            </a:r>
            <a:endParaRPr lang="en-US" sz="340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34290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UA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3429000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4D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Ключові особливості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594360" y="1920240"/>
            <a:ext cx="36118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0" name="Text 8"/>
          <p:cNvSpPr/>
          <p:nvPr/>
        </p:nvSpPr>
        <p:spPr>
          <a:xfrm>
            <a:off x="658368" y="19385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Динамічна БД фактів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658368" y="21396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g_hline/2, g_vline/2 — факти в базі знань замість структур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594360" y="2450592"/>
            <a:ext cx="36118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3" name="Text 11"/>
          <p:cNvSpPr/>
          <p:nvPr/>
        </p:nvSpPr>
        <p:spPr>
          <a:xfrm>
            <a:off x="658368" y="24688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Уніфікація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658368" y="26700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box_complete(R,C) перевіряє через уніфікацію всіх 4 сторін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594360" y="2980944"/>
            <a:ext cx="36118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6" name="Text 14"/>
          <p:cNvSpPr/>
          <p:nvPr/>
        </p:nvSpPr>
        <p:spPr>
          <a:xfrm>
            <a:off x="658368" y="2999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assert/retract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658368" y="32004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 гри змінюється через assert/retract — мутація через факти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594360" y="3511296"/>
            <a:ext cx="36118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9" name="Text 17"/>
          <p:cNvSpPr/>
          <p:nvPr/>
        </p:nvSpPr>
        <p:spPr>
          <a:xfrm>
            <a:off x="658368" y="35295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findall/3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658368" y="3730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Збір усіх валідних ходів та захоплених боксів декларативно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594360" y="4041648"/>
            <a:ext cx="36118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2" name="Text 20"/>
          <p:cNvSpPr/>
          <p:nvPr/>
        </p:nvSpPr>
        <p:spPr>
          <a:xfrm>
            <a:off x="658368" y="40599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сервер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658368" y="42611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library(http/thread_httpd) + reply_json_dict для REST API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4663440" y="1371600"/>
            <a:ext cx="4023360" cy="3429000"/>
          </a:xfrm>
          <a:prstGeom prst="rect">
            <a:avLst/>
          </a:prstGeom>
          <a:solidFill>
            <a:srgbClr val="0F0F0F"/>
          </a:solidFill>
          <a:ln w="12700">
            <a:solidFill>
              <a:srgbClr val="2A2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UA"/>
          </a:p>
        </p:txBody>
      </p:sp>
      <p:sp>
        <p:nvSpPr>
          <p:cNvPr id="25" name="Text 23"/>
          <p:cNvSpPr/>
          <p:nvPr/>
        </p:nvSpPr>
        <p:spPr>
          <a:xfrm>
            <a:off x="475488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Перевірка та виконання ходу</a:t>
            </a:r>
            <a:endParaRPr lang="en-US" sz="750"/>
          </a:p>
        </p:txBody>
      </p:sp>
      <p:sp>
        <p:nvSpPr>
          <p:cNvPr id="26" name="Text 24"/>
          <p:cNvSpPr/>
          <p:nvPr/>
        </p:nvSpPr>
        <p:spPr>
          <a:xfrm>
            <a:off x="4754880" y="18288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valid_move(h, R, C) :-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4754880" y="20208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g_size(N),</a:t>
            </a:r>
            <a:endParaRPr lang="en-US" sz="800"/>
          </a:p>
        </p:txBody>
      </p:sp>
      <p:sp>
        <p:nvSpPr>
          <p:cNvPr id="28" name="Text 26"/>
          <p:cNvSpPr/>
          <p:nvPr/>
        </p:nvSpPr>
        <p:spPr>
          <a:xfrm>
            <a:off x="4754880" y="22128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 &gt;= 0, R =&lt; N, C &gt;= 0, C &lt; N,</a:t>
            </a:r>
            <a:endParaRPr lang="en-US" sz="800"/>
          </a:p>
        </p:txBody>
      </p:sp>
      <p:sp>
        <p:nvSpPr>
          <p:cNvPr id="29" name="Text 27"/>
          <p:cNvSpPr/>
          <p:nvPr/>
        </p:nvSpPr>
        <p:spPr>
          <a:xfrm>
            <a:off x="4754880" y="2404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8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\+ g_hline(R, C).</a:t>
            </a:r>
            <a:endParaRPr lang="en-US" sz="800"/>
          </a:p>
        </p:txBody>
      </p:sp>
      <p:sp>
        <p:nvSpPr>
          <p:cNvPr id="30" name="Text 28"/>
          <p:cNvSpPr/>
          <p:nvPr/>
        </p:nvSpPr>
        <p:spPr>
          <a:xfrm>
            <a:off x="4754880" y="2596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31" name="Text 29"/>
          <p:cNvSpPr/>
          <p:nvPr/>
        </p:nvSpPr>
        <p:spPr>
          <a:xfrm>
            <a:off x="4754880" y="2788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box_complete(R, C) :-</a:t>
            </a:r>
            <a:endParaRPr lang="en-US" sz="800"/>
          </a:p>
        </p:txBody>
      </p:sp>
      <p:sp>
        <p:nvSpPr>
          <p:cNvPr id="32" name="Text 30"/>
          <p:cNvSpPr/>
          <p:nvPr/>
        </p:nvSpPr>
        <p:spPr>
          <a:xfrm>
            <a:off x="4754880" y="29809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 is R+1, C1 is C+1,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4754880" y="3172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g_hline(R,C),  g_hline(R1,C),</a:t>
            </a:r>
            <a:endParaRPr lang="en-US" sz="800"/>
          </a:p>
        </p:txBody>
      </p:sp>
      <p:sp>
        <p:nvSpPr>
          <p:cNvPr id="34" name="Text 32"/>
          <p:cNvSpPr/>
          <p:nvPr/>
        </p:nvSpPr>
        <p:spPr>
          <a:xfrm>
            <a:off x="4754880" y="33649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88CC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g_vline(R,C),  g_vline(R,C1).</a:t>
            </a:r>
            <a:endParaRPr lang="en-US" sz="800"/>
          </a:p>
        </p:txBody>
      </p:sp>
      <p:sp>
        <p:nvSpPr>
          <p:cNvPr id="35" name="Text 33"/>
          <p:cNvSpPr/>
          <p:nvPr/>
        </p:nvSpPr>
        <p:spPr>
          <a:xfrm>
            <a:off x="4754880" y="35570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36" name="Text 34"/>
          <p:cNvSpPr/>
          <p:nvPr/>
        </p:nvSpPr>
        <p:spPr>
          <a:xfrm>
            <a:off x="4754880" y="3749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do_move(Dir, Row, Col) :-</a:t>
            </a:r>
            <a:endParaRPr lang="en-US" sz="800"/>
          </a:p>
        </p:txBody>
      </p:sp>
      <p:sp>
        <p:nvSpPr>
          <p:cNvPr id="37" name="Text 35"/>
          <p:cNvSpPr/>
          <p:nvPr/>
        </p:nvSpPr>
        <p:spPr>
          <a:xfrm>
            <a:off x="4754880" y="39410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 Dir = h -&gt;</a:t>
            </a:r>
            <a:endParaRPr lang="en-US" sz="800"/>
          </a:p>
        </p:txBody>
      </p:sp>
      <p:sp>
        <p:nvSpPr>
          <p:cNvPr id="38" name="Text 36"/>
          <p:cNvSpPr/>
          <p:nvPr/>
        </p:nvSpPr>
        <p:spPr>
          <a:xfrm>
            <a:off x="4754880" y="4133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D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assert(g_hline(Row,Col))</a:t>
            </a:r>
            <a:endParaRPr lang="en-US" sz="800"/>
          </a:p>
        </p:txBody>
      </p:sp>
      <p:sp>
        <p:nvSpPr>
          <p:cNvPr id="39" name="Text 37"/>
          <p:cNvSpPr/>
          <p:nvPr/>
        </p:nvSpPr>
        <p:spPr>
          <a:xfrm>
            <a:off x="4754880" y="43251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D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; assert(g_vline(Row,Col)) ),</a:t>
            </a:r>
            <a:endParaRPr lang="en-US" sz="800"/>
          </a:p>
        </p:txBody>
      </p:sp>
      <p:sp>
        <p:nvSpPr>
          <p:cNvPr id="40" name="Text 38"/>
          <p:cNvSpPr/>
          <p:nvPr/>
        </p:nvSpPr>
        <p:spPr>
          <a:xfrm>
            <a:off x="4754880" y="45171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process_boxes(NewBoxes).</a:t>
            </a:r>
            <a:endParaRPr lang="en-US" sz="800"/>
          </a:p>
        </p:txBody>
      </p:sp>
      <p:pic>
        <p:nvPicPr>
          <p:cNvPr id="61" name="Звук 60">
            <a:extLst>
              <a:ext uri="{FF2B5EF4-FFF2-40B4-BE49-F238E27FC236}">
                <a16:creationId xmlns:a16="http://schemas.microsoft.com/office/drawing/2014/main" id="{1AA89B33-A606-CBB7-F433-EEC000F90C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016"/>
    </mc:Choice>
    <mc:Fallback xmlns="">
      <p:transition spd="slow" advTm="260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ПОРІВНЯННЯ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Haskell vs Prolog</a:t>
            </a:r>
            <a:endParaRPr lang="en-US" sz="340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2860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7" name="Shape 5"/>
          <p:cNvSpPr/>
          <p:nvPr/>
        </p:nvSpPr>
        <p:spPr>
          <a:xfrm>
            <a:off x="2697480" y="1325880"/>
            <a:ext cx="2926080" cy="347472"/>
          </a:xfrm>
          <a:prstGeom prst="rect">
            <a:avLst/>
          </a:prstGeom>
          <a:solidFill>
            <a:srgbClr val="FF4D4D">
              <a:alpha val="25000"/>
            </a:srgbClr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8" name="Shape 6"/>
          <p:cNvSpPr/>
          <p:nvPr/>
        </p:nvSpPr>
        <p:spPr>
          <a:xfrm>
            <a:off x="5669280" y="1325880"/>
            <a:ext cx="2926080" cy="347472"/>
          </a:xfrm>
          <a:prstGeom prst="rect">
            <a:avLst/>
          </a:prstGeom>
          <a:solidFill>
            <a:srgbClr val="4D9FFF">
              <a:alpha val="25000"/>
            </a:srgbClr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Аспект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2697480" y="1325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🟠  Haskell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5669280" y="1325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4D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🔵  Prolog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2286000" cy="4114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3" name="Shape 11"/>
          <p:cNvSpPr/>
          <p:nvPr/>
        </p:nvSpPr>
        <p:spPr>
          <a:xfrm>
            <a:off x="2697480" y="1737360"/>
            <a:ext cx="2926080" cy="4114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4" name="Shape 12"/>
          <p:cNvSpPr/>
          <p:nvPr/>
        </p:nvSpPr>
        <p:spPr>
          <a:xfrm>
            <a:off x="5669280" y="1737360"/>
            <a:ext cx="2926080" cy="4114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5" name="Text 13"/>
          <p:cNvSpPr/>
          <p:nvPr/>
        </p:nvSpPr>
        <p:spPr>
          <a:xfrm>
            <a:off x="45720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Парадигма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2788920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Функціональна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5760720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err="1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Логічна</a:t>
            </a:r>
            <a:r>
              <a:rPr lang="en-US" sz="95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365760" y="2194560"/>
            <a:ext cx="228600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9" name="Shape 17"/>
          <p:cNvSpPr/>
          <p:nvPr/>
        </p:nvSpPr>
        <p:spPr>
          <a:xfrm>
            <a:off x="2697480" y="2194560"/>
            <a:ext cx="292608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0" name="Shape 18"/>
          <p:cNvSpPr/>
          <p:nvPr/>
        </p:nvSpPr>
        <p:spPr>
          <a:xfrm>
            <a:off x="5669280" y="2194560"/>
            <a:ext cx="292608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1" name="Text 19"/>
          <p:cNvSpPr/>
          <p:nvPr/>
        </p:nvSpPr>
        <p:spPr>
          <a:xfrm>
            <a:off x="457200" y="2194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Стан гри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278892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Незмінний запис (record)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576072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 в базі знань (assert)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365760" y="2651760"/>
            <a:ext cx="2286000" cy="4114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5" name="Shape 23"/>
          <p:cNvSpPr/>
          <p:nvPr/>
        </p:nvSpPr>
        <p:spPr>
          <a:xfrm>
            <a:off x="2697480" y="2651760"/>
            <a:ext cx="2926080" cy="4114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6" name="Shape 24"/>
          <p:cNvSpPr/>
          <p:nvPr/>
        </p:nvSpPr>
        <p:spPr>
          <a:xfrm>
            <a:off x="5669280" y="2651760"/>
            <a:ext cx="2926080" cy="4114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7" name="Text 25"/>
          <p:cNvSpPr/>
          <p:nvPr/>
        </p:nvSpPr>
        <p:spPr>
          <a:xfrm>
            <a:off x="457200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Хід гравця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278892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 функція makeMove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576072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Предикат do_move з side-effects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365760" y="3108960"/>
            <a:ext cx="228600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1" name="Shape 29"/>
          <p:cNvSpPr/>
          <p:nvPr/>
        </p:nvSpPr>
        <p:spPr>
          <a:xfrm>
            <a:off x="2697480" y="3108960"/>
            <a:ext cx="292608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2" name="Shape 30"/>
          <p:cNvSpPr/>
          <p:nvPr/>
        </p:nvSpPr>
        <p:spPr>
          <a:xfrm>
            <a:off x="5669280" y="3108960"/>
            <a:ext cx="292608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3" name="Text 31"/>
          <p:cNvSpPr/>
          <p:nvPr/>
        </p:nvSpPr>
        <p:spPr>
          <a:xfrm>
            <a:off x="457200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Перевірка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278892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Охоронці (guards) + Either</a:t>
            </a:r>
            <a:endParaRPr lang="en-US" sz="950"/>
          </a:p>
        </p:txBody>
      </p:sp>
      <p:sp>
        <p:nvSpPr>
          <p:cNvPr id="35" name="Text 33"/>
          <p:cNvSpPr/>
          <p:nvPr/>
        </p:nvSpPr>
        <p:spPr>
          <a:xfrm>
            <a:off x="576072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Уніфікація + \+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365760" y="3566160"/>
            <a:ext cx="2286000" cy="4114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7" name="Shape 35"/>
          <p:cNvSpPr/>
          <p:nvPr/>
        </p:nvSpPr>
        <p:spPr>
          <a:xfrm>
            <a:off x="2697480" y="3566160"/>
            <a:ext cx="2926080" cy="4114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8" name="Shape 36"/>
          <p:cNvSpPr/>
          <p:nvPr/>
        </p:nvSpPr>
        <p:spPr>
          <a:xfrm>
            <a:off x="5669280" y="3566160"/>
            <a:ext cx="2926080" cy="4114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9" name="Text 37"/>
          <p:cNvSpPr/>
          <p:nvPr/>
        </p:nvSpPr>
        <p:spPr>
          <a:xfrm>
            <a:off x="457200" y="35661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Захоплення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2788920" y="3566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newBoxes через list comprehension</a:t>
            </a:r>
            <a:endParaRPr lang="en-US" sz="950"/>
          </a:p>
        </p:txBody>
      </p:sp>
      <p:sp>
        <p:nvSpPr>
          <p:cNvPr id="41" name="Text 39"/>
          <p:cNvSpPr/>
          <p:nvPr/>
        </p:nvSpPr>
        <p:spPr>
          <a:xfrm>
            <a:off x="5760720" y="3566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 + newly_completed</a:t>
            </a:r>
            <a:endParaRPr lang="en-US" sz="950"/>
          </a:p>
        </p:txBody>
      </p:sp>
      <p:sp>
        <p:nvSpPr>
          <p:cNvPr id="42" name="Shape 40"/>
          <p:cNvSpPr/>
          <p:nvPr/>
        </p:nvSpPr>
        <p:spPr>
          <a:xfrm>
            <a:off x="365760" y="4023360"/>
            <a:ext cx="228600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3" name="Shape 41"/>
          <p:cNvSpPr/>
          <p:nvPr/>
        </p:nvSpPr>
        <p:spPr>
          <a:xfrm>
            <a:off x="2697480" y="4023360"/>
            <a:ext cx="292608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4" name="Shape 42"/>
          <p:cNvSpPr/>
          <p:nvPr/>
        </p:nvSpPr>
        <p:spPr>
          <a:xfrm>
            <a:off x="5669280" y="4023360"/>
            <a:ext cx="292608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5" name="Text 43"/>
          <p:cNvSpPr/>
          <p:nvPr/>
        </p:nvSpPr>
        <p:spPr>
          <a:xfrm>
            <a:off x="457200" y="4023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Сервер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278892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Scotty + WAI middleware</a:t>
            </a:r>
            <a:endParaRPr lang="en-US" sz="950"/>
          </a:p>
        </p:txBody>
      </p:sp>
      <p:sp>
        <p:nvSpPr>
          <p:cNvPr id="47" name="Text 45"/>
          <p:cNvSpPr/>
          <p:nvPr/>
        </p:nvSpPr>
        <p:spPr>
          <a:xfrm>
            <a:off x="576072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library(http/thread_httpd)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365760" y="4480560"/>
            <a:ext cx="2286000" cy="4114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9" name="Shape 47"/>
          <p:cNvSpPr/>
          <p:nvPr/>
        </p:nvSpPr>
        <p:spPr>
          <a:xfrm>
            <a:off x="2697480" y="4480560"/>
            <a:ext cx="2926080" cy="4114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50" name="Shape 48"/>
          <p:cNvSpPr/>
          <p:nvPr/>
        </p:nvSpPr>
        <p:spPr>
          <a:xfrm>
            <a:off x="5669280" y="4480560"/>
            <a:ext cx="2926080" cy="41148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51" name="Text 49"/>
          <p:cNvSpPr/>
          <p:nvPr/>
        </p:nvSpPr>
        <p:spPr>
          <a:xfrm>
            <a:off x="457200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Читабельність</a:t>
            </a:r>
            <a:endParaRPr lang="en-US" sz="1000"/>
          </a:p>
        </p:txBody>
      </p:sp>
      <p:sp>
        <p:nvSpPr>
          <p:cNvPr id="52" name="Text 50"/>
          <p:cNvSpPr/>
          <p:nvPr/>
        </p:nvSpPr>
        <p:spPr>
          <a:xfrm>
            <a:off x="2788920" y="4480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Явні типи, компілятор ловить помилки</a:t>
            </a:r>
            <a:endParaRPr lang="en-US" sz="950"/>
          </a:p>
        </p:txBody>
      </p:sp>
      <p:sp>
        <p:nvSpPr>
          <p:cNvPr id="53" name="Text 51"/>
          <p:cNvSpPr/>
          <p:nvPr/>
        </p:nvSpPr>
        <p:spPr>
          <a:xfrm>
            <a:off x="5760720" y="4480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A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Компактна логіка, менше коду</a:t>
            </a:r>
            <a:endParaRPr lang="en-US" sz="950"/>
          </a:p>
        </p:txBody>
      </p:sp>
      <p:pic>
        <p:nvPicPr>
          <p:cNvPr id="57" name="Звук 56">
            <a:extLst>
              <a:ext uri="{FF2B5EF4-FFF2-40B4-BE49-F238E27FC236}">
                <a16:creationId xmlns:a16="http://schemas.microsoft.com/office/drawing/2014/main" id="{DBA8DE2D-8118-3DEC-A0BA-BB4E1383CD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978"/>
    </mc:Choice>
    <mc:Fallback xmlns="">
      <p:transition spd="slow" advTm="239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ВИСНОВКИ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0F0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Підсумок</a:t>
            </a:r>
            <a:endParaRPr lang="en-US" sz="340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UA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54864" cy="3474720"/>
          </a:xfrm>
          <a:prstGeom prst="rect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4D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🟠  Haskell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502920" y="2260230"/>
            <a:ext cx="91440" cy="91440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0" name="Text 8"/>
          <p:cNvSpPr/>
          <p:nvPr/>
        </p:nvSpPr>
        <p:spPr>
          <a:xfrm>
            <a:off x="667512" y="20116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Статична типізація ловить помилки на етапі компіляції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502920" y="2955174"/>
            <a:ext cx="91440" cy="91440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2" name="Text 10"/>
          <p:cNvSpPr/>
          <p:nvPr/>
        </p:nvSpPr>
        <p:spPr>
          <a:xfrm>
            <a:off x="667512" y="270662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Незмінний стан = простіше тестування і відладка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502920" y="3657675"/>
            <a:ext cx="91440" cy="91440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4" name="Text 12"/>
          <p:cNvSpPr/>
          <p:nvPr/>
        </p:nvSpPr>
        <p:spPr>
          <a:xfrm>
            <a:off x="667512" y="340156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Scotty робить HTTP API читабельним і лаконічним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502920" y="4352619"/>
            <a:ext cx="91440" cy="91440"/>
          </a:xfrm>
          <a:prstGeom prst="ellipse">
            <a:avLst/>
          </a:prstGeom>
          <a:solidFill>
            <a:srgbClr val="FF4D4D"/>
          </a:solidFill>
          <a:ln w="12700">
            <a:solidFill>
              <a:srgbClr val="FF4D4D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6" name="Text 14"/>
          <p:cNvSpPr/>
          <p:nvPr/>
        </p:nvSpPr>
        <p:spPr>
          <a:xfrm>
            <a:off x="667512" y="409651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Ідеальний для складної ігрової логіки з інваріантами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4023360" cy="3474720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ru-UA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54864" cy="3474720"/>
          </a:xfrm>
          <a:prstGeom prst="rect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19" name="Text 17"/>
          <p:cNvSpPr/>
          <p:nvPr/>
        </p:nvSpPr>
        <p:spPr>
          <a:xfrm>
            <a:off x="4800600" y="1463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4D9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🔵  Prolog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4800600" y="2260230"/>
            <a:ext cx="91440" cy="91440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1" name="Text 19"/>
          <p:cNvSpPr/>
          <p:nvPr/>
        </p:nvSpPr>
        <p:spPr>
          <a:xfrm>
            <a:off x="4965192" y="20116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 та правила — природній спосіб описати правила гри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4800600" y="2962731"/>
            <a:ext cx="91440" cy="91440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3" name="Text 21"/>
          <p:cNvSpPr/>
          <p:nvPr/>
        </p:nvSpPr>
        <p:spPr>
          <a:xfrm>
            <a:off x="4965192" y="2706624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Уніфікація замінює складні умовні перевірки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4800600" y="3657675"/>
            <a:ext cx="91440" cy="91440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5" name="Text 23"/>
          <p:cNvSpPr/>
          <p:nvPr/>
        </p:nvSpPr>
        <p:spPr>
          <a:xfrm>
            <a:off x="4965192" y="340156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findall/3 елегантно знаходить всі допустимі ходи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4800600" y="4352619"/>
            <a:ext cx="91440" cy="91440"/>
          </a:xfrm>
          <a:prstGeom prst="ellipse">
            <a:avLst/>
          </a:prstGeom>
          <a:solidFill>
            <a:srgbClr val="4D9FFF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ru-UA"/>
          </a:p>
        </p:txBody>
      </p:sp>
      <p:sp>
        <p:nvSpPr>
          <p:cNvPr id="27" name="Text 25"/>
          <p:cNvSpPr/>
          <p:nvPr/>
        </p:nvSpPr>
        <p:spPr>
          <a:xfrm>
            <a:off x="4965192" y="409651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Менше коду для опису доменної логіки гри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4389120" y="704089"/>
            <a:ext cx="4261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Обидві реалізації — однаковий результат, різна філософія.</a:t>
            </a:r>
            <a:endParaRPr lang="en-US" sz="1200"/>
          </a:p>
        </p:txBody>
      </p:sp>
      <p:pic>
        <p:nvPicPr>
          <p:cNvPr id="42" name="Звук 41">
            <a:extLst>
              <a:ext uri="{FF2B5EF4-FFF2-40B4-BE49-F238E27FC236}">
                <a16:creationId xmlns:a16="http://schemas.microsoft.com/office/drawing/2014/main" id="{E13475F3-D89C-A044-4D10-9AC12F34DB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78800" y="4178300"/>
            <a:ext cx="812800" cy="812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648"/>
    </mc:Choice>
    <mc:Fallback xmlns="">
      <p:transition spd="slow" advTm="276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</Words>
  <Application>Microsoft Macintosh PowerPoint</Application>
  <PresentationFormat>Экран (16:9)</PresentationFormat>
  <Paragraphs>137</Paragraphs>
  <Slides>7</Slides>
  <Notes>7</Notes>
  <HiddenSlides>0</HiddenSlides>
  <MMClips>7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Dots &amp; Boxes</dc:title>
  <dc:subject>PptxGenJS Presentation</dc:subject>
  <dc:creator>PptxGenJS</dc:creator>
  <cp:lastModifiedBy>Загоруй	 Нікіта Євгенович</cp:lastModifiedBy>
  <cp:revision>1</cp:revision>
  <dcterms:created xsi:type="dcterms:W3CDTF">2026-03-09T12:59:38Z</dcterms:created>
  <dcterms:modified xsi:type="dcterms:W3CDTF">2026-03-09T13:41:41Z</dcterms:modified>
</cp:coreProperties>
</file>